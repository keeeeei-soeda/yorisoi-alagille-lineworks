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1ff4f559a84020" /><Relationship Type="http://schemas.openxmlformats.org/officeDocument/2006/relationships/extended-properties" Target="/docProps/app.xml" Id="Rb2477a6a59ae45a6" /><Relationship Type="http://schemas.openxmlformats.org/officeDocument/2006/relationships/officeDocument" Target="/ppt/presentation.xml" Id="Rd03891c164cc47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51baccc9ae4c38"/>
  </p:sldMasterIdLst>
  <p:notesMasterIdLst>
    <p:notesMasterId xmlns:r="http://schemas.openxmlformats.org/officeDocument/2006/relationships" r:id="R03c736579e9e4018"/>
  </p:notesMasterIdLst>
  <p:sldIdLst>
    <p:sldId xmlns:r="http://schemas.openxmlformats.org/officeDocument/2006/relationships" id="256" r:id="Rd3497e4cb5b94cf5"/>
    <p:sldId xmlns:r="http://schemas.openxmlformats.org/officeDocument/2006/relationships" id="257" r:id="R2493fa618c354fa5"/>
    <p:sldId xmlns:r="http://schemas.openxmlformats.org/officeDocument/2006/relationships" id="258" r:id="R8e1b522af3be4234"/>
    <p:sldId xmlns:r="http://schemas.openxmlformats.org/officeDocument/2006/relationships" id="259" r:id="R9c25e1cd236d4aa8"/>
    <p:sldId xmlns:r="http://schemas.openxmlformats.org/officeDocument/2006/relationships" id="260" r:id="R68b1b34e607445ed"/>
    <p:sldId xmlns:r="http://schemas.openxmlformats.org/officeDocument/2006/relationships" id="261" r:id="R7efd703aa1b64fe4"/>
    <p:sldId xmlns:r="http://schemas.openxmlformats.org/officeDocument/2006/relationships" id="262" r:id="R2e856659af2a4abd"/>
    <p:sldId xmlns:r="http://schemas.openxmlformats.org/officeDocument/2006/relationships" id="263" r:id="R42996a007b9b4bae"/>
    <p:sldId xmlns:r="http://schemas.openxmlformats.org/officeDocument/2006/relationships" id="264" r:id="Rd2aa9e2977d4420e"/>
    <p:sldId xmlns:r="http://schemas.openxmlformats.org/officeDocument/2006/relationships" id="265" r:id="R778d8e0873ba4bef"/>
    <p:sldId xmlns:r="http://schemas.openxmlformats.org/officeDocument/2006/relationships" id="266" r:id="R1e7ea8dae7aa40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938b3daf084a03" /><Relationship Type="http://schemas.openxmlformats.org/officeDocument/2006/relationships/slideMaster" Target="/ppt/slideMasters/slideMaster1.xml" Id="R0051baccc9ae4c38" /><Relationship Type="http://schemas.openxmlformats.org/officeDocument/2006/relationships/notesMaster" Target="/ppt/notesMasters/notesMaster1.xml" Id="R03c736579e9e4018" /><Relationship Type="http://schemas.openxmlformats.org/officeDocument/2006/relationships/presProps" Target="/ppt/presProps.xml" Id="R66a21073bcd94d1c" /><Relationship Type="http://schemas.openxmlformats.org/officeDocument/2006/relationships/tableStyles" Target="/ppt/tableStyles.xml" Id="R60a7d0231aed446c" /><Relationship Type="http://schemas.openxmlformats.org/officeDocument/2006/relationships/slide" Target="/ppt/slides/slide1.xml" Id="Rd3497e4cb5b94cf5" /><Relationship Type="http://schemas.openxmlformats.org/officeDocument/2006/relationships/slide" Target="/ppt/slides/slide2.xml" Id="R2493fa618c354fa5" /><Relationship Type="http://schemas.openxmlformats.org/officeDocument/2006/relationships/slide" Target="/ppt/slides/slide3.xml" Id="R8e1b522af3be4234" /><Relationship Type="http://schemas.openxmlformats.org/officeDocument/2006/relationships/slide" Target="/ppt/slides/slide4.xml" Id="R9c25e1cd236d4aa8" /><Relationship Type="http://schemas.openxmlformats.org/officeDocument/2006/relationships/slide" Target="/ppt/slides/slide5.xml" Id="R68b1b34e607445ed" /><Relationship Type="http://schemas.openxmlformats.org/officeDocument/2006/relationships/slide" Target="/ppt/slides/slide6.xml" Id="R7efd703aa1b64fe4" /><Relationship Type="http://schemas.openxmlformats.org/officeDocument/2006/relationships/slide" Target="/ppt/slides/slide7.xml" Id="R2e856659af2a4abd" /><Relationship Type="http://schemas.openxmlformats.org/officeDocument/2006/relationships/slide" Target="/ppt/slides/slide8.xml" Id="R42996a007b9b4bae" /><Relationship Type="http://schemas.openxmlformats.org/officeDocument/2006/relationships/slide" Target="/ppt/slides/slide9.xml" Id="Rd2aa9e2977d4420e" /><Relationship Type="http://schemas.openxmlformats.org/officeDocument/2006/relationships/slide" Target="/ppt/slides/slide10.xml" Id="R778d8e0873ba4bef" /><Relationship Type="http://schemas.openxmlformats.org/officeDocument/2006/relationships/slide" Target="/ppt/slides/slide11.xml" Id="R1e7ea8dae7aa40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1f23a40bb148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a6b44ecb164aa1" /><Relationship Type="http://schemas.openxmlformats.org/officeDocument/2006/relationships/notesMaster" Target="/ppt/notesMasters/notesMaster1.xml" Id="R42b50741607745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ce1ac72ecb4c91" /><Relationship Type="http://schemas.openxmlformats.org/officeDocument/2006/relationships/notesMaster" Target="/ppt/notesMasters/notesMaster1.xml" Id="Rca7a3c8bc55049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b3f100d6be4063" /><Relationship Type="http://schemas.openxmlformats.org/officeDocument/2006/relationships/notesMaster" Target="/ppt/notesMasters/notesMaster1.xml" Id="Rae7e453860304b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385d24d5c04af1" /><Relationship Type="http://schemas.openxmlformats.org/officeDocument/2006/relationships/notesMaster" Target="/ppt/notesMasters/notesMaster1.xml" Id="R4e5ca31e810a44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be8bbb0fde4161" /><Relationship Type="http://schemas.openxmlformats.org/officeDocument/2006/relationships/notesMaster" Target="/ppt/notesMasters/notesMaster1.xml" Id="R17649ebed9494d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a48940d8094823" /><Relationship Type="http://schemas.openxmlformats.org/officeDocument/2006/relationships/notesMaster" Target="/ppt/notesMasters/notesMaster1.xml" Id="Rb0571c04e66749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261ad916a94a71" /><Relationship Type="http://schemas.openxmlformats.org/officeDocument/2006/relationships/notesMaster" Target="/ppt/notesMasters/notesMaster1.xml" Id="R625f37f29d0145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351f3ca4fd4ade" /><Relationship Type="http://schemas.openxmlformats.org/officeDocument/2006/relationships/notesMaster" Target="/ppt/notesMasters/notesMaster1.xml" Id="R0a3f0fdc4f1546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feca7b041e43ef" /><Relationship Type="http://schemas.openxmlformats.org/officeDocument/2006/relationships/notesMaster" Target="/ppt/notesMasters/notesMaster1.xml" Id="R8f16320cae8b46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b2b94aec804e57" /><Relationship Type="http://schemas.openxmlformats.org/officeDocument/2006/relationships/notesMaster" Target="/ppt/notesMasters/notesMaster1.xml" Id="Rb59c5b6a6b1543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d0ecb76e5b474f" /><Relationship Type="http://schemas.openxmlformats.org/officeDocument/2006/relationships/notesMaster" Target="/ppt/notesMasters/notesMaster1.xml" Id="R510aa2a943a345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01032fcd740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8c4b2ffa584dfc" /><Relationship Type="http://schemas.openxmlformats.org/officeDocument/2006/relationships/slideLayout" Target="/ppt/slideLayouts/slideLayout1.xml" Id="Ra2e10f1d674b4c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10f1d674b4c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690ba60ca4e67" /><Relationship Type="http://schemas.openxmlformats.org/officeDocument/2006/relationships/image" Target="/ppt/media/image.png" Id="Ra88a2d25ef404ae7" /><Relationship Type="http://schemas.openxmlformats.org/officeDocument/2006/relationships/notesSlide" Target="/ppt/notesSlides/notesSlide1.xml" Id="Ref3f520918d440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e0743c7754b9e" /><Relationship Type="http://schemas.openxmlformats.org/officeDocument/2006/relationships/notesSlide" Target="/ppt/notesSlides/notesSlide2.xml" Id="Ra72dc92206fd4d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cb51572d94d53" /><Relationship Type="http://schemas.openxmlformats.org/officeDocument/2006/relationships/image" Target="/ppt/media/image2.png" Id="R340cd70ff48f47cb" /><Relationship Type="http://schemas.openxmlformats.org/officeDocument/2006/relationships/notesSlide" Target="/ppt/notesSlides/notesSlide3.xml" Id="R008705059d6e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0cc431a524fb2" /><Relationship Type="http://schemas.openxmlformats.org/officeDocument/2006/relationships/notesSlide" Target="/ppt/notesSlides/notesSlide4.xml" Id="R11ba592d30cc46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2d89a405846d9" /><Relationship Type="http://schemas.openxmlformats.org/officeDocument/2006/relationships/image" Target="/ppt/media/image3.png" Id="Rdfbb8e63bd324b02" /><Relationship Type="http://schemas.openxmlformats.org/officeDocument/2006/relationships/notesSlide" Target="/ppt/notesSlides/notesSlide5.xml" Id="R51b79a2154ec49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6bfdb5981428d" /><Relationship Type="http://schemas.openxmlformats.org/officeDocument/2006/relationships/image" Target="/ppt/media/image4.png" Id="R5237f8b15ce947cf" /><Relationship Type="http://schemas.openxmlformats.org/officeDocument/2006/relationships/notesSlide" Target="/ppt/notesSlides/notesSlide6.xml" Id="Rdb7c5a0f89d84b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3424ee07449ff" /><Relationship Type="http://schemas.openxmlformats.org/officeDocument/2006/relationships/image" Target="/ppt/media/image5.png" Id="R61bf5697575e45f8" /><Relationship Type="http://schemas.openxmlformats.org/officeDocument/2006/relationships/notesSlide" Target="/ppt/notesSlides/notesSlide7.xml" Id="Rc54183dce56540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b0616bc1c40ed" /><Relationship Type="http://schemas.openxmlformats.org/officeDocument/2006/relationships/image" Target="/ppt/media/image6.png" Id="R2e1433f1ee0e402a" /><Relationship Type="http://schemas.openxmlformats.org/officeDocument/2006/relationships/notesSlide" Target="/ppt/notesSlides/notesSlide8.xml" Id="R62277bc356c649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7019198d54a86" /><Relationship Type="http://schemas.openxmlformats.org/officeDocument/2006/relationships/image" Target="/ppt/media/image7.png" Id="R9493b46517ae4ffc" /><Relationship Type="http://schemas.openxmlformats.org/officeDocument/2006/relationships/notesSlide" Target="/ppt/notesSlides/notesSlide9.xml" Id="Rc619444b0dd948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2397e5f634e4f" /><Relationship Type="http://schemas.openxmlformats.org/officeDocument/2006/relationships/image" Target="/ppt/media/image8.png" Id="Rb1391087c390438a" /><Relationship Type="http://schemas.openxmlformats.org/officeDocument/2006/relationships/notesSlide" Target="/ppt/notesSlides/notesSlide10.xml" Id="R743616e0d1fb44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a264988454e02" /><Relationship Type="http://schemas.openxmlformats.org/officeDocument/2006/relationships/notesSlide" Target="/ppt/notesSlides/notesSlide11.xml" Id="R4e6f921fa9ab42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C4EE78-351C-46AF-B116-D135A049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1B7A6"/>
                </a:solidFill>
              </a:defRPr>
            </a:pPr>
            <a:r>
              <a:rPr sz="3300" b="1">
                <a:solidFill>
                  <a:srgbClr val="51B7A6"/>
                </a:solidFill>
              </a:rPr>
              <a:t>よりそい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2BF26-6BF0-4963-B5B1-4ECF0EEF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B3324"/>
                </a:solidFill>
              </a:defRPr>
            </a:pPr>
            <a:r>
              <a:rPr sz="3450" b="1">
                <a:solidFill>
                  <a:srgbClr val="4B3324"/>
                </a:solidFill>
              </a:rPr>
              <a:t>アラジール症候群向け</a:t>
            </a:r>
          </a:p>
          <a:p xmlns:a="http://schemas.openxmlformats.org/drawingml/2006/main">
            <a:pPr>
              <a:defRPr sz="3450" b="1">
                <a:solidFill>
                  <a:srgbClr val="4B3324"/>
                </a:solidFill>
              </a:defRPr>
            </a:pPr>
            <a:r>
              <a:rPr sz="3450" b="1">
                <a:solidFill>
                  <a:srgbClr val="4B3324"/>
                </a:solidFill>
              </a:rPr>
              <a:t>ミーティング説明スライド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4497B-A433-4F08-83A5-D68470E3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B6858"/>
                </a:solidFill>
              </a:defRPr>
            </a:pPr>
            <a:r>
              <a:rPr sz="1725">
                <a:solidFill>
                  <a:srgbClr val="7B6858"/>
                </a:solidFill>
              </a:rPr>
              <a:t>画像デザイン案・動くデモ・機能説明を、同じ流れで確認するための資料です。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8B5B5-5127-458D-A5E7-59558D7B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"/>
            <a:ext cx="4000500" cy="5334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AF1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a2d25ef404ae7"/>
          <a:stretch xmlns:a="http://schemas.openxmlformats.org/drawingml/2006/main"/>
        </p:blipFill>
        <p:spPr>
          <a:xfrm xmlns:a="http://schemas.openxmlformats.org/drawingml/2006/main">
            <a:off x="7477125" y="2456328"/>
            <a:ext cx="3524250" cy="198344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6EE13-5C6B-4FF3-B1B6-32DDA899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8A78"/>
                </a:solidFill>
              </a:defRPr>
            </a:pPr>
            <a:r>
              <a:rPr sz="900">
                <a:solidFill>
                  <a:srgbClr val="9C8A78"/>
                </a:solidFill>
              </a:rPr>
              <a:t>2026.06.24 / meeting draft / 1</a:t>
            </a:r>
          </a:p>
        </p:txBody>
      </p:sp>
    </p:spTree>
    <p:extLst>
      <p:ext uri="{BB962C8B-B14F-4D97-AF65-F5344CB8AC3E}">
        <p14:creationId xmlns:p14="http://schemas.microsoft.com/office/powerpoint/2010/main" val="1593638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FDACC5-ACB7-4767-B0B6-0D37E6C3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1B7A6"/>
                </a:solidFill>
              </a:defRPr>
            </a:pPr>
            <a:r>
              <a:rPr sz="1125" b="1">
                <a:solidFill>
                  <a:srgbClr val="51B7A6"/>
                </a:solidFill>
              </a:rPr>
              <a:t>よりそい | アラジール症候群向け 家族ノート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45C1F-41B5-4991-A36A-824AF52A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4B3324"/>
                </a:solidFill>
              </a:defRPr>
            </a:pPr>
            <a:r>
              <a:rPr sz="2625" b="1">
                <a:solidFill>
                  <a:srgbClr val="4B3324"/>
                </a:solidFill>
              </a:rPr>
              <a:t>このミーティングで確認したいこと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7137F-F4E7-4167-A44B-6EA4724E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C6D"/>
          </a:solidFill>
          <a:ln xmlns:a="http://schemas.openxmlformats.org/drawingml/2006/main" w="0">
            <a:solidFill>
              <a:srgbClr val="ED7C6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813E1-BFB8-41C3-AF2B-9379800A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03822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9C2C6-23BD-46E8-841C-1619725C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28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3324"/>
                </a:solidFill>
              </a:defRPr>
            </a:pPr>
            <a:r>
              <a:rPr sz="1875" b="1">
                <a:solidFill>
                  <a:srgbClr val="4B3324"/>
                </a:solidFill>
              </a:rPr>
              <a:t>誰に向けたものか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862BA-DA84-4994-937F-5BE0B29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66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B6858"/>
                </a:solidFill>
              </a:defRPr>
            </a:pPr>
            <a:r>
              <a:rPr sz="1650">
                <a:solidFill>
                  <a:srgbClr val="7B6858"/>
                </a:solidFill>
              </a:rPr>
              <a:t>お母さん・ご家族が、お子さんの日々と受診準備を安心して残せること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6C3F0-C94B-4AD8-B259-D98D8928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03822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FDD29-258B-460B-9FCF-17F8CB2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861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B7A6"/>
                </a:solidFill>
              </a:defRPr>
            </a:pPr>
            <a:r>
              <a:rPr sz="1875" b="1">
                <a:solidFill>
                  <a:srgbClr val="51B7A6"/>
                </a:solidFill>
              </a:rPr>
              <a:t>何を見せるか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FEE71-4FEE-4450-8FDE-B6C60A6B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B6858"/>
                </a:solidFill>
              </a:defRPr>
            </a:pPr>
            <a:r>
              <a:rPr sz="1650">
                <a:solidFill>
                  <a:srgbClr val="7B6858"/>
                </a:solidFill>
              </a:rPr>
              <a:t>動くデモ、A案/B案の画像デザイン、機能別の使い方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8B36D-4CCB-4276-89D5-8D6931AD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3822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45894-B05A-482C-8C1B-CABF8530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3324"/>
                </a:solidFill>
              </a:defRPr>
            </a:pPr>
            <a:r>
              <a:rPr sz="1875" b="1">
                <a:solidFill>
                  <a:srgbClr val="4B3324"/>
                </a:solidFill>
              </a:rPr>
              <a:t>決めたいこと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61046-C866-4C4F-9BCF-91B3CF77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B6858"/>
                </a:solidFill>
              </a:defRPr>
            </a:pPr>
            <a:r>
              <a:rPr sz="1650">
                <a:solidFill>
                  <a:srgbClr val="7B6858"/>
                </a:solidFill>
              </a:rPr>
              <a:t>ホームの方向性、録音中心の診察メモ、成長・写真・共有の優先度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8664E-80B6-4FD8-AF90-550341CE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8A78"/>
                </a:solidFill>
              </a:defRPr>
            </a:pPr>
            <a:r>
              <a:rPr sz="900">
                <a:solidFill>
                  <a:srgbClr val="9C8A78"/>
                </a:solidFill>
              </a:rPr>
              <a:t>2026.06.24 / meeting draft / 2</a:t>
            </a:r>
          </a:p>
        </p:txBody>
      </p:sp>
    </p:spTree>
    <p:extLst>
      <p:ext uri="{BB962C8B-B14F-4D97-AF65-F5344CB8AC3E}">
        <p14:creationId xmlns:p14="http://schemas.microsoft.com/office/powerpoint/2010/main" val="1078591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cd70ff48f47cb"/>
          <a:stretch xmlns:a="http://schemas.openxmlformats.org/drawingml/2006/main"/>
        </p:blipFill>
        <p:spPr>
          <a:xfrm xmlns:a="http://schemas.openxmlformats.org/drawingml/2006/main">
            <a:off x="578667" y="323850"/>
            <a:ext cx="11034667" cy="621030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</p:spTree>
    <p:extLst>
      <p:ext uri="{BB962C8B-B14F-4D97-AF65-F5344CB8AC3E}">
        <p14:creationId xmlns:p14="http://schemas.microsoft.com/office/powerpoint/2010/main" val="65866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48932-25A5-443B-AB47-66337E1E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1B7A6"/>
                </a:solidFill>
              </a:defRPr>
            </a:pPr>
            <a:r>
              <a:rPr sz="1125" b="1">
                <a:solidFill>
                  <a:srgbClr val="51B7A6"/>
                </a:solidFill>
              </a:rPr>
              <a:t>よりそい | アラジール症候群向け 家族ノート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CCE8B-2992-447C-BD3B-B4FB01C9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4B3324"/>
                </a:solidFill>
              </a:defRPr>
            </a:pPr>
            <a:r>
              <a:rPr sz="2625" b="1">
                <a:solidFill>
                  <a:srgbClr val="4B3324"/>
                </a:solidFill>
              </a:rPr>
              <a:t>動くデモで見せるポイント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819FB-E9B8-4EB2-9DA6-D7EB22D6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C6D"/>
          </a:solidFill>
          <a:ln xmlns:a="http://schemas.openxmlformats.org/drawingml/2006/main" w="0">
            <a:solidFill>
              <a:srgbClr val="ED7C6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64326-5CB2-4B9D-97E2-3D719FB9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0292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AAD68-4B0B-4671-83E5-CB93C4E0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B3324"/>
                </a:solidFill>
              </a:defRPr>
            </a:pPr>
            <a:r>
              <a:rPr sz="2175" b="1">
                <a:solidFill>
                  <a:srgbClr val="4B3324"/>
                </a:solidFill>
              </a:rPr>
              <a:t>最初に見る流れ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43A66-1FBE-4018-A3DD-CCF5F36E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B6858"/>
                </a:solidFill>
              </a:defRPr>
            </a:pPr>
            <a:r>
              <a:rPr sz="1725">
                <a:solidFill>
                  <a:srgbClr val="7B6858"/>
                </a:solidFill>
              </a:rPr>
              <a:t>・ホームから診察メモへ入る</a:t>
            </a:r>
          </a:p>
          <a:p xmlns:a="http://schemas.openxmlformats.org/drawingml/2006/main">
            <a:pPr>
              <a:defRPr sz="1725">
                <a:solidFill>
                  <a:srgbClr val="7B6858"/>
                </a:solidFill>
              </a:defRPr>
            </a:pPr>
            <a:r>
              <a:rPr sz="1725">
                <a:solidFill>
                  <a:srgbClr val="7B6858"/>
                </a:solidFill>
              </a:rPr>
              <a:t>・録音が主役であることを確認する</a:t>
            </a:r>
          </a:p>
          <a:p xmlns:a="http://schemas.openxmlformats.org/drawingml/2006/main">
            <a:pPr>
              <a:defRPr sz="1725">
                <a:solidFill>
                  <a:srgbClr val="7B6858"/>
                </a:solidFill>
              </a:defRPr>
            </a:pPr>
            <a:r>
              <a:rPr sz="1725">
                <a:solidFill>
                  <a:srgbClr val="7B6858"/>
                </a:solidFill>
              </a:rPr>
              <a:t>・成長・写真・先生に見せるへ遷移する</a:t>
            </a:r>
          </a:p>
          <a:p xmlns:a="http://schemas.openxmlformats.org/drawingml/2006/main">
            <a:pPr>
              <a:defRPr sz="1725">
                <a:solidFill>
                  <a:srgbClr val="7B6858"/>
                </a:solidFill>
              </a:defRPr>
            </a:pPr>
            <a:r>
              <a:rPr sz="1725">
                <a:solidFill>
                  <a:srgbClr val="7B6858"/>
                </a:solidFill>
              </a:rPr>
              <a:t>・LINE WORKSから開く前提で説明する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CF3A0-A52B-49FC-9703-1B23CD3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38300"/>
            <a:ext cx="52578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13335">
            <a:solidFill>
              <a:srgbClr val="CB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F7D8E-2763-46EC-89B7-B3DE0C83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81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1B7A6"/>
                </a:solidFill>
              </a:defRPr>
            </a:pPr>
            <a:r>
              <a:rPr sz="2175" b="1">
                <a:solidFill>
                  <a:srgbClr val="51B7A6"/>
                </a:solidFill>
              </a:rPr>
              <a:t>話し方の軸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938F4-8A98-4782-A150-EDEFCA8F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B3324"/>
                </a:solidFill>
              </a:defRPr>
            </a:pPr>
            <a:r>
              <a:rPr sz="2175" b="1">
                <a:solidFill>
                  <a:srgbClr val="4B3324"/>
                </a:solidFill>
              </a:rPr>
              <a:t>「医療管理アプリ」ではなく、</a:t>
            </a:r>
          </a:p>
          <a:p xmlns:a="http://schemas.openxmlformats.org/drawingml/2006/main">
            <a:pPr>
              <a:defRPr sz="2175" b="1">
                <a:solidFill>
                  <a:srgbClr val="4B3324"/>
                </a:solidFill>
              </a:defRPr>
            </a:pPr>
            <a:r>
              <a:rPr sz="2175" b="1">
                <a:solidFill>
                  <a:srgbClr val="4B3324"/>
                </a:solidFill>
              </a:rPr>
              <a:t>お母さんとお子さんが受診前後に使える</a:t>
            </a:r>
          </a:p>
          <a:p xmlns:a="http://schemas.openxmlformats.org/drawingml/2006/main">
            <a:pPr>
              <a:defRPr sz="2175" b="1">
                <a:solidFill>
                  <a:srgbClr val="4B3324"/>
                </a:solidFill>
              </a:defRPr>
            </a:pPr>
            <a:r>
              <a:rPr sz="2175" b="1">
                <a:solidFill>
                  <a:srgbClr val="4B3324"/>
                </a:solidFill>
              </a:rPr>
              <a:t>やさしい家族ノートとして見せます。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A57CC-88C1-455E-8B45-38447D3A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8A78"/>
                </a:solidFill>
              </a:defRPr>
            </a:pPr>
            <a:r>
              <a:rPr sz="900">
                <a:solidFill>
                  <a:srgbClr val="9C8A78"/>
                </a:solidFill>
              </a:rPr>
              <a:t>2026.06.24 / meeting draft / 4</a:t>
            </a:r>
          </a:p>
        </p:txBody>
      </p:sp>
    </p:spTree>
    <p:extLst>
      <p:ext uri="{BB962C8B-B14F-4D97-AF65-F5344CB8AC3E}">
        <p14:creationId xmlns:p14="http://schemas.microsoft.com/office/powerpoint/2010/main" val="1909495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23D3D-6376-4DFF-A4E4-5ABAB179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1B7A6"/>
                </a:solidFill>
              </a:defRPr>
            </a:pPr>
            <a:r>
              <a:rPr sz="1125" b="1">
                <a:solidFill>
                  <a:srgbClr val="51B7A6"/>
                </a:solidFill>
              </a:rPr>
              <a:t>よりそい | アラジール症候群向け 家族ノート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B32CF-56B1-478F-8DFE-48F9E296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4B3324"/>
                </a:solidFill>
              </a:defRPr>
            </a:pPr>
            <a:r>
              <a:rPr sz="2625" b="1">
                <a:solidFill>
                  <a:srgbClr val="4B3324"/>
                </a:solidFill>
              </a:rPr>
              <a:t>A案: 親子イラストを大きく見せるホーム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C0D9C-07C0-44C1-8D69-A8C7EE33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C6D"/>
          </a:solidFill>
          <a:ln xmlns:a="http://schemas.openxmlformats.org/drawingml/2006/main" w="0">
            <a:solidFill>
              <a:srgbClr val="ED7C6D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b8e63bd324b02"/>
          <a:stretch xmlns:a="http://schemas.openxmlformats.org/drawingml/2006/main"/>
        </p:blipFill>
        <p:spPr>
          <a:xfrm xmlns:a="http://schemas.openxmlformats.org/drawingml/2006/main">
            <a:off x="5144481" y="1257300"/>
            <a:ext cx="2379287" cy="514350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0F870-D0CF-442A-931C-2252888A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D3031-AE71-4E9C-8922-DC621C76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1B7A6"/>
                </a:solidFill>
              </a:defRPr>
            </a:pPr>
            <a:r>
              <a:rPr sz="2025" b="1">
                <a:solidFill>
                  <a:srgbClr val="51B7A6"/>
                </a:solidFill>
              </a:rPr>
              <a:t>見るポイント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D82F5-A345-4AC6-8715-2F8423A3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B6858"/>
                </a:solidFill>
              </a:defRPr>
            </a:pPr>
            <a:r>
              <a:rPr sz="1575">
                <a:solidFill>
                  <a:srgbClr val="7B6858"/>
                </a:solidFill>
              </a:rPr>
              <a:t>・最初の印象がやさしい</a:t>
            </a:r>
          </a:p>
          <a:p xmlns:a="http://schemas.openxmlformats.org/drawingml/2006/main">
            <a:pPr>
              <a:defRPr sz="1575">
                <a:solidFill>
                  <a:srgbClr val="7B6858"/>
                </a:solidFill>
              </a:defRPr>
            </a:pPr>
            <a:r>
              <a:rPr sz="1575">
                <a:solidFill>
                  <a:srgbClr val="7B6858"/>
                </a:solidFill>
              </a:rPr>
              <a:t>・お母さんとお子さんが主役</a:t>
            </a:r>
          </a:p>
          <a:p xmlns:a="http://schemas.openxmlformats.org/drawingml/2006/main">
            <a:pPr>
              <a:defRPr sz="1575">
                <a:solidFill>
                  <a:srgbClr val="7B6858"/>
                </a:solidFill>
              </a:defRPr>
            </a:pPr>
            <a:r>
              <a:rPr sz="1575">
                <a:solidFill>
                  <a:srgbClr val="7B6858"/>
                </a:solidFill>
              </a:rPr>
              <a:t>・4つの機能が迷わず見える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736CC-FA08-45A8-9EF0-77CA0BB4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30480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13335">
            <a:solidFill>
              <a:srgbClr val="CB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A8082-1DB5-41FC-9BED-BD0CA303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1B7A6"/>
                </a:solidFill>
              </a:defRPr>
            </a:pPr>
            <a:r>
              <a:rPr sz="2025" b="1">
                <a:solidFill>
                  <a:srgbClr val="51B7A6"/>
                </a:solidFill>
              </a:rPr>
              <a:t>話し方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3AB12-3CD9-4163-8BC3-AE9748AD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3324"/>
                </a:solidFill>
              </a:defRPr>
            </a:pPr>
            <a:r>
              <a:rPr sz="1650">
                <a:solidFill>
                  <a:srgbClr val="4B3324"/>
                </a:solidFill>
              </a:rPr>
              <a:t>「毎日の記録が、自然に受診準備へつながる」ことを中心に説明します。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5DB0C-A57F-4C3E-BEB2-FA4E7638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8A78"/>
                </a:solidFill>
              </a:defRPr>
            </a:pPr>
            <a:r>
              <a:rPr sz="900">
                <a:solidFill>
                  <a:srgbClr val="9C8A78"/>
                </a:solidFill>
              </a:rPr>
              <a:t>2026.06.24 / meeting draft / 5</a:t>
            </a:r>
          </a:p>
        </p:txBody>
      </p:sp>
    </p:spTree>
    <p:extLst>
      <p:ext uri="{BB962C8B-B14F-4D97-AF65-F5344CB8AC3E}">
        <p14:creationId xmlns:p14="http://schemas.microsoft.com/office/powerpoint/2010/main" val="2627932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3800D0-9AD3-4B58-9236-0A9F7B47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1B7A6"/>
                </a:solidFill>
              </a:defRPr>
            </a:pPr>
            <a:r>
              <a:rPr sz="1125" b="1">
                <a:solidFill>
                  <a:srgbClr val="51B7A6"/>
                </a:solidFill>
              </a:rPr>
              <a:t>よりそい | アラジール症候群向け 家族ノート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5D5C0-D126-48B6-A190-82001F08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4B3324"/>
                </a:solidFill>
              </a:defRPr>
            </a:pPr>
            <a:r>
              <a:rPr sz="2625" b="1">
                <a:solidFill>
                  <a:srgbClr val="4B3324"/>
                </a:solidFill>
              </a:rPr>
              <a:t>A案: 遷移後も同じ世界観でつなぐ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A9B1C-7A26-418F-B39B-3F49EFA5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C6D"/>
          </a:solidFill>
          <a:ln xmlns:a="http://schemas.openxmlformats.org/drawingml/2006/main" w="0">
            <a:solidFill>
              <a:srgbClr val="ED7C6D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7f8b15ce947cf"/>
          <a:stretch xmlns:a="http://schemas.openxmlformats.org/drawingml/2006/main"/>
        </p:blipFill>
        <p:spPr>
          <a:xfrm xmlns:a="http://schemas.openxmlformats.org/drawingml/2006/main">
            <a:off x="1686979" y="1428750"/>
            <a:ext cx="8818042" cy="4857750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9BCAB-F663-4C6C-88A6-992B3191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8A78"/>
                </a:solidFill>
              </a:defRPr>
            </a:pPr>
            <a:r>
              <a:rPr sz="900">
                <a:solidFill>
                  <a:srgbClr val="9C8A78"/>
                </a:solidFill>
              </a:rPr>
              <a:t>2026.06.24 / meeting draft / 6</a:t>
            </a:r>
          </a:p>
        </p:txBody>
      </p:sp>
    </p:spTree>
    <p:extLst>
      <p:ext uri="{BB962C8B-B14F-4D97-AF65-F5344CB8AC3E}">
        <p14:creationId xmlns:p14="http://schemas.microsoft.com/office/powerpoint/2010/main" val="15825290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4919D9-DCAE-4243-B0EB-0F7303E0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1B7A6"/>
                </a:solidFill>
              </a:defRPr>
            </a:pPr>
            <a:r>
              <a:rPr sz="1125" b="1">
                <a:solidFill>
                  <a:srgbClr val="51B7A6"/>
                </a:solidFill>
              </a:rPr>
              <a:t>よりそい | アラジール症候群向け 家族ノート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40084-F188-4823-9483-50E5322A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4B3324"/>
                </a:solidFill>
              </a:defRPr>
            </a:pPr>
            <a:r>
              <a:rPr sz="2625" b="1">
                <a:solidFill>
                  <a:srgbClr val="4B3324"/>
                </a:solidFill>
              </a:rPr>
              <a:t>B案: 録音導線を強くした家族ノート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333B9-9E02-4550-958E-6C948960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C6D"/>
          </a:solidFill>
          <a:ln xmlns:a="http://schemas.openxmlformats.org/drawingml/2006/main" w="0">
            <a:solidFill>
              <a:srgbClr val="ED7C6D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f5697575e45f8"/>
          <a:stretch xmlns:a="http://schemas.openxmlformats.org/drawingml/2006/main"/>
        </p:blipFill>
        <p:spPr>
          <a:xfrm xmlns:a="http://schemas.openxmlformats.org/drawingml/2006/main">
            <a:off x="5144481" y="1257300"/>
            <a:ext cx="2379287" cy="514350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78BD3-0E75-412A-A9DD-99EA54B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3238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9BEE9-D32A-45BE-8238-48B02B8D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D7C6D"/>
                </a:solidFill>
              </a:defRPr>
            </a:pPr>
            <a:r>
              <a:rPr sz="2025" b="1">
                <a:solidFill>
                  <a:srgbClr val="ED7C6D"/>
                </a:solidFill>
              </a:rPr>
              <a:t>見るポイント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FDC5C-E01B-44E3-BB86-76A95011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B6858"/>
                </a:solidFill>
              </a:defRPr>
            </a:pPr>
            <a:r>
              <a:rPr sz="1575">
                <a:solidFill>
                  <a:srgbClr val="7B6858"/>
                </a:solidFill>
              </a:rPr>
              <a:t>・診察メモが主役になる</a:t>
            </a:r>
          </a:p>
          <a:p xmlns:a="http://schemas.openxmlformats.org/drawingml/2006/main">
            <a:pPr>
              <a:defRPr sz="1575">
                <a:solidFill>
                  <a:srgbClr val="7B6858"/>
                </a:solidFill>
              </a:defRPr>
            </a:pPr>
            <a:r>
              <a:rPr sz="1575">
                <a:solidFill>
                  <a:srgbClr val="7B6858"/>
                </a:solidFill>
              </a:rPr>
              <a:t>・録音開始がひと目で分かる</a:t>
            </a:r>
          </a:p>
          <a:p xmlns:a="http://schemas.openxmlformats.org/drawingml/2006/main">
            <a:pPr>
              <a:defRPr sz="1575">
                <a:solidFill>
                  <a:srgbClr val="7B6858"/>
                </a:solidFill>
              </a:defRPr>
            </a:pPr>
            <a:r>
              <a:rPr sz="1575">
                <a:solidFill>
                  <a:srgbClr val="7B6858"/>
                </a:solidFill>
              </a:rPr>
              <a:t>・最近のメモまで見せられる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49DC9-7AB7-46EB-BDDC-01885EF0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30480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1EA"/>
          </a:solidFill>
          <a:ln xmlns:a="http://schemas.openxmlformats.org/drawingml/2006/main" w="13335">
            <a:solidFill>
              <a:srgbClr val="F3C9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C84EB-CAB4-4856-AA3D-57EBC21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D7C6D"/>
                </a:solidFill>
              </a:defRPr>
            </a:pPr>
            <a:r>
              <a:rPr sz="2025" b="1">
                <a:solidFill>
                  <a:srgbClr val="ED7C6D"/>
                </a:solidFill>
              </a:rPr>
              <a:t>話し方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12C00-9BDF-4D3A-A9B0-24E2D57D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2324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3324"/>
                </a:solidFill>
              </a:defRPr>
            </a:pPr>
            <a:r>
              <a:rPr sz="1650">
                <a:solidFill>
                  <a:srgbClr val="4B3324"/>
                </a:solidFill>
              </a:rPr>
              <a:t>「入力しないといけない」ではなく、声で残せる安心感を強調します。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E5C55-689E-413F-9180-11742274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8A78"/>
                </a:solidFill>
              </a:defRPr>
            </a:pPr>
            <a:r>
              <a:rPr sz="900">
                <a:solidFill>
                  <a:srgbClr val="9C8A78"/>
                </a:solidFill>
              </a:rPr>
              <a:t>2026.06.24 / meeting draft / 7</a:t>
            </a:r>
          </a:p>
        </p:txBody>
      </p:sp>
    </p:spTree>
    <p:extLst>
      <p:ext uri="{BB962C8B-B14F-4D97-AF65-F5344CB8AC3E}">
        <p14:creationId xmlns:p14="http://schemas.microsoft.com/office/powerpoint/2010/main" val="12238262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55F4FA-8D3E-48F6-9A90-21182B65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1B7A6"/>
                </a:solidFill>
              </a:defRPr>
            </a:pPr>
            <a:r>
              <a:rPr sz="1125" b="1">
                <a:solidFill>
                  <a:srgbClr val="51B7A6"/>
                </a:solidFill>
              </a:rPr>
              <a:t>よりそい | アラジール症候群向け 家族ノート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F24A3-A294-406B-AB49-C14368F2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4B3324"/>
                </a:solidFill>
              </a:defRPr>
            </a:pPr>
            <a:r>
              <a:rPr sz="2625" b="1">
                <a:solidFill>
                  <a:srgbClr val="4B3324"/>
                </a:solidFill>
              </a:rPr>
              <a:t>B案: 診察メモを主役にした導線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985D4-33BC-4A5C-81AF-24037449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C6D"/>
          </a:solidFill>
          <a:ln xmlns:a="http://schemas.openxmlformats.org/drawingml/2006/main" w="0">
            <a:solidFill>
              <a:srgbClr val="ED7C6D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433f1ee0e402a"/>
          <a:stretch xmlns:a="http://schemas.openxmlformats.org/drawingml/2006/main"/>
        </p:blipFill>
        <p:spPr>
          <a:xfrm xmlns:a="http://schemas.openxmlformats.org/drawingml/2006/main">
            <a:off x="1470717" y="1428750"/>
            <a:ext cx="9250567" cy="4857750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E360A-3F0D-4F47-8D8B-548CBC6B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8A78"/>
                </a:solidFill>
              </a:defRPr>
            </a:pPr>
            <a:r>
              <a:rPr sz="900">
                <a:solidFill>
                  <a:srgbClr val="9C8A78"/>
                </a:solidFill>
              </a:rPr>
              <a:t>2026.06.24 / meeting draft / 8</a:t>
            </a:r>
          </a:p>
        </p:txBody>
      </p:sp>
    </p:spTree>
    <p:extLst>
      <p:ext uri="{BB962C8B-B14F-4D97-AF65-F5344CB8AC3E}">
        <p14:creationId xmlns:p14="http://schemas.microsoft.com/office/powerpoint/2010/main" val="17080073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3b46517ae4ffc"/>
          <a:stretch xmlns:a="http://schemas.openxmlformats.org/drawingml/2006/main"/>
        </p:blipFill>
        <p:spPr>
          <a:xfrm xmlns:a="http://schemas.openxmlformats.org/drawingml/2006/main">
            <a:off x="1438275" y="323850"/>
            <a:ext cx="9315450" cy="621030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</p:spTree>
    <p:extLst>
      <p:ext uri="{BB962C8B-B14F-4D97-AF65-F5344CB8AC3E}">
        <p14:creationId xmlns:p14="http://schemas.microsoft.com/office/powerpoint/2010/main" val="1458609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6ED010-9519-40A8-BF70-595EEAC6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1B7A6"/>
                </a:solidFill>
              </a:defRPr>
            </a:pPr>
            <a:r>
              <a:rPr sz="1125" b="1">
                <a:solidFill>
                  <a:srgbClr val="51B7A6"/>
                </a:solidFill>
              </a:rPr>
              <a:t>よりそい | アラジール症候群向け 家族ノート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14D23-98C8-4706-9AEB-8B267614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4B3324"/>
                </a:solidFill>
              </a:defRPr>
            </a:pPr>
            <a:r>
              <a:rPr sz="2625" b="1">
                <a:solidFill>
                  <a:srgbClr val="4B3324"/>
                </a:solidFill>
              </a:rPr>
              <a:t>今後の実装に使える素材の方向性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6D06B-65F3-4B8C-A5C8-01CDD7DF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C6D"/>
          </a:solidFill>
          <a:ln xmlns:a="http://schemas.openxmlformats.org/drawingml/2006/main" w="0">
            <a:solidFill>
              <a:srgbClr val="ED7C6D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91087c390438a"/>
          <a:stretch xmlns:a="http://schemas.openxmlformats.org/drawingml/2006/main"/>
        </p:blipFill>
        <p:spPr>
          <a:xfrm xmlns:a="http://schemas.openxmlformats.org/drawingml/2006/main">
            <a:off x="3714750" y="1428750"/>
            <a:ext cx="4762500" cy="47625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DE4CB-91C3-4339-980E-702430E1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8A78"/>
                </a:solidFill>
              </a:defRPr>
            </a:pPr>
            <a:r>
              <a:rPr sz="900">
                <a:solidFill>
                  <a:srgbClr val="9C8A78"/>
                </a:solidFill>
              </a:rPr>
              <a:t>2026.06.24 / meeting draft / 10</a:t>
            </a:r>
          </a:p>
        </p:txBody>
      </p:sp>
    </p:spTree>
    <p:extLst>
      <p:ext uri="{BB962C8B-B14F-4D97-AF65-F5344CB8AC3E}">
        <p14:creationId xmlns:p14="http://schemas.microsoft.com/office/powerpoint/2010/main" val="15844610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98D5B3-2571-4BA4-AC0D-C0EF13A6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1B7A6"/>
                </a:solidFill>
              </a:defRPr>
            </a:pPr>
            <a:r>
              <a:rPr sz="1125" b="1">
                <a:solidFill>
                  <a:srgbClr val="51B7A6"/>
                </a:solidFill>
              </a:rPr>
              <a:t>よりそい | アラジール症候群向け 家族ノート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D709A-8895-4BC5-B5AA-C926B95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4B3324"/>
                </a:solidFill>
              </a:defRPr>
            </a:pPr>
            <a:r>
              <a:rPr sz="2625" b="1">
                <a:solidFill>
                  <a:srgbClr val="4B3324"/>
                </a:solidFill>
              </a:rPr>
              <a:t>次に確認したいこと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8AD1D-7040-4DEB-BC8F-A9B7D60D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C6D"/>
          </a:solidFill>
          <a:ln xmlns:a="http://schemas.openxmlformats.org/drawingml/2006/main" w="0">
            <a:solidFill>
              <a:srgbClr val="ED7C6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4BC99-F205-4FE7-AF23-97DC5622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9530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CD520-7BF8-4ED1-B4A3-CC842502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B3324"/>
                </a:solidFill>
              </a:defRPr>
            </a:pPr>
            <a:r>
              <a:rPr sz="1950" b="1">
                <a:solidFill>
                  <a:srgbClr val="4B3324"/>
                </a:solidFill>
              </a:rPr>
              <a:t>デザイン方向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5AB5A-C84B-44F6-A5E9-E6FB7929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B6858"/>
                </a:solidFill>
              </a:defRPr>
            </a:pPr>
            <a:r>
              <a:rPr sz="1425">
                <a:solidFill>
                  <a:srgbClr val="7B6858"/>
                </a:solidFill>
              </a:rPr>
              <a:t>A案/B案のどちらを基本にするか。混ぜる場合は、どの要素を採用するか。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9BA38-BAF1-46C6-9E6C-42CF6BE0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49530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1B9AA-865B-4B8C-9569-5D46FCCC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05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1B7A6"/>
                </a:solidFill>
              </a:defRPr>
            </a:pPr>
            <a:r>
              <a:rPr sz="1950" b="1">
                <a:solidFill>
                  <a:srgbClr val="51B7A6"/>
                </a:solidFill>
              </a:rPr>
              <a:t>機能優先度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F6537-6F37-4C43-B682-49304B01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B6858"/>
                </a:solidFill>
              </a:defRPr>
            </a:pPr>
            <a:r>
              <a:rPr sz="1425">
                <a:solidFill>
                  <a:srgbClr val="7B6858"/>
                </a:solidFill>
              </a:rPr>
              <a:t>診察メモ、成長、写真、先生に見せるのうち、初回でどこまで作り込むか。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0DF04-19A0-44C6-9DED-C56E1110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49530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6212E-13DD-4EFB-932D-ADF418DC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B3324"/>
                </a:solidFill>
              </a:defRPr>
            </a:pPr>
            <a:r>
              <a:rPr sz="1950" b="1">
                <a:solidFill>
                  <a:srgbClr val="4B3324"/>
                </a:solidFill>
              </a:rPr>
              <a:t>LINE WORKS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CA98F-AF69-4E6F-BC30-B6E3AA60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B6858"/>
                </a:solidFill>
              </a:defRPr>
            </a:pPr>
            <a:r>
              <a:rPr sz="1425">
                <a:solidFill>
                  <a:srgbClr val="7B6858"/>
                </a:solidFill>
              </a:rPr>
              <a:t>リンク起動MVPで進めるか、次段階でBot/固定メニューまで広げるか。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DD1D8-08E8-4639-9009-CD3053F9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67100"/>
            <a:ext cx="49530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13335">
            <a:solidFill>
              <a:srgbClr val="E6D8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09A0C-F280-4B64-BA69-D2D561C2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1B7A6"/>
                </a:solidFill>
              </a:defRPr>
            </a:pPr>
            <a:r>
              <a:rPr sz="1950" b="1">
                <a:solidFill>
                  <a:srgbClr val="51B7A6"/>
                </a:solidFill>
              </a:rPr>
              <a:t>説明資料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CEE34-A5B3-45B1-BC37-8EC6472F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B6858"/>
                </a:solidFill>
              </a:defRPr>
            </a:pPr>
            <a:r>
              <a:rPr sz="1425">
                <a:solidFill>
                  <a:srgbClr val="7B6858"/>
                </a:solidFill>
              </a:rPr>
              <a:t>今回の画像スライドをベースに、提案・合意形成用の資料へ整えるか。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27E05-2AB8-4B26-870C-D75DB22F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8A78"/>
                </a:solidFill>
              </a:defRPr>
            </a:pPr>
            <a:r>
              <a:rPr sz="900">
                <a:solidFill>
                  <a:srgbClr val="9C8A78"/>
                </a:solidFill>
              </a:rPr>
              <a:t>2026.06.24 / meeting draft / 11</a:t>
            </a:r>
          </a:p>
        </p:txBody>
      </p:sp>
    </p:spTree>
    <p:extLst>
      <p:ext uri="{BB962C8B-B14F-4D97-AF65-F5344CB8AC3E}">
        <p14:creationId xmlns:p14="http://schemas.microsoft.com/office/powerpoint/2010/main" val="1596280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2026-06-23T17:13:35.1730000Z</dcterms:created>
  <dcterms:modified xsi:type="dcterms:W3CDTF">2026-06-23T17:13:35.1730000Z</dcterms:modified>
</coreProperties>
</file>